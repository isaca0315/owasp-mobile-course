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4B8A6"/>
                </a:solidFill>
                <a:latin typeface="DejaVu Sans"/>
              </a:rPr>
              <a:t>OWASP MOBILE TOP 10 — CURSO DE ANÁLISIS DE SEGURIDAD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DejaVu Sans"/>
              </a:rPr>
              <a:t>Clase 4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2D8CF0"/>
                </a:solidFill>
                <a:latin typeface="DejaVu Sans"/>
              </a:rPr>
              <a:t>Resiliencia y Anti-Tampering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94A3B8"/>
                </a:solidFill>
                <a:latin typeface="DejaVu Sans"/>
              </a:rPr>
              <a:t>Repaso de M1–M10  ·  Defensa del lado del cliente  ·  MASVS-RESILIENCE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26280"/>
            <a:ext cx="2926080" cy="3000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DejaVu Sans"/>
              </a:rPr>
              <a:t>Laboratorio: InsecureBankv2 (MASTG-APP-0010)  ·  VM Android 8.1 API 27 con root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DejaVu Sans"/>
              </a:rPr>
              <a:t>JADX · apktool · apksigner · Frida · MobSF · Burp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2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D8CF0"/>
                </a:solidFill>
                <a:latin typeface="DejaVu Sans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Qué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000" b="1" i="0">
                <a:solidFill>
                  <a:srgbClr val="2D8CF0"/>
                </a:solidFill>
                <a:latin typeface="DejaVu Sans"/>
              </a:rPr>
              <a:t>1.  </a:t>
            </a:r>
            <a:r>
              <a:rPr sz="2000" b="1" i="0">
                <a:solidFill>
                  <a:srgbClr val="0F1B2D"/>
                </a:solidFill>
                <a:latin typeface="DejaVu Sans"/>
              </a:rPr>
              <a:t>Repaso del OWASP Mobile Top 10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  — los 10 riesgos y su evidencia real en el laboratorio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000" b="1" i="0">
                <a:solidFill>
                  <a:srgbClr val="14B8A6"/>
                </a:solidFill>
                <a:latin typeface="DejaVu Sans"/>
              </a:rPr>
              <a:t>2.  </a:t>
            </a:r>
            <a:r>
              <a:rPr sz="2000" b="1" i="0">
                <a:solidFill>
                  <a:srgbClr val="0F1B2D"/>
                </a:solidFill>
                <a:latin typeface="DejaVu Sans"/>
              </a:rPr>
              <a:t>No son etiquetas: son cadenas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  — cómo M9 hace posible M8, y M1 hace indefendible M2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000" b="1" i="0">
                <a:solidFill>
                  <a:srgbClr val="F59E0B"/>
                </a:solidFill>
                <a:latin typeface="DejaVu Sans"/>
              </a:rPr>
              <a:t>3.  </a:t>
            </a:r>
            <a:r>
              <a:rPr sz="2000" b="1" i="0">
                <a:solidFill>
                  <a:srgbClr val="0F1B2D"/>
                </a:solidFill>
                <a:latin typeface="DejaVu Sans"/>
              </a:rPr>
              <a:t>El puente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  — sabemos romperlo. ¿Cómo se defiende?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000" b="1" i="0">
                <a:solidFill>
                  <a:srgbClr val="8B5CF6"/>
                </a:solidFill>
                <a:latin typeface="DejaVu Sans"/>
              </a:rPr>
              <a:t>4.  </a:t>
            </a:r>
            <a:r>
              <a:rPr sz="2000" b="1" i="0">
                <a:solidFill>
                  <a:srgbClr val="0F1B2D"/>
                </a:solidFill>
                <a:latin typeface="DejaVu Sans"/>
              </a:rPr>
              <a:t>MASVS-RESILIENCE-1 a 4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  — integridad, anti-tampering, anti-RE, anti-análisis dinámico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000" b="1" i="0">
                <a:solidFill>
                  <a:srgbClr val="E5484D"/>
                </a:solidFill>
                <a:latin typeface="DejaVu Sans"/>
              </a:rPr>
              <a:t>5.  </a:t>
            </a:r>
            <a:r>
              <a:rPr sz="2000" b="1" i="0">
                <a:solidFill>
                  <a:srgbClr val="0F1B2D"/>
                </a:solidFill>
                <a:latin typeface="DejaVu Sans"/>
              </a:rPr>
              <a:t>Técnicas en Android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  — root, emulador, Frida, firma, obfuscación, attestation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000" b="1" i="0">
                <a:solidFill>
                  <a:srgbClr val="2D8CF0"/>
                </a:solidFill>
                <a:latin typeface="DejaVu Sans"/>
              </a:rPr>
              <a:t>6.  </a:t>
            </a:r>
            <a:r>
              <a:rPr sz="2000" b="1" i="0">
                <a:solidFill>
                  <a:srgbClr val="0F1B2D"/>
                </a:solidFill>
                <a:latin typeface="DejaVu Sans"/>
              </a:rPr>
              <a:t>Demo en vivo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  — InsecureBankv2 no tiene NADA de esto (y se ve)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000" b="1" i="0">
                <a:solidFill>
                  <a:srgbClr val="14B8A6"/>
                </a:solidFill>
                <a:latin typeface="DejaVu Sans"/>
              </a:rPr>
              <a:t>7.  </a:t>
            </a:r>
            <a:r>
              <a:rPr sz="2000" b="1" i="0">
                <a:solidFill>
                  <a:srgbClr val="0F1B2D"/>
                </a:solidFill>
                <a:latin typeface="DejaVu Sans"/>
              </a:rPr>
              <a:t>La parte honesta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  — por qué la resiliencia no es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2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D8CF0"/>
                </a:solidFill>
                <a:latin typeface="DejaVu Sans"/>
              </a:rPr>
              <a:t>REPASO ·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Cómo hemos trabajado el Top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002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737360"/>
                <a:gridCol w="5669280"/>
                <a:gridCol w="2697480"/>
              </a:tblGrid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Clase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Riesgos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Herramientas nuevas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M1 · M2 · M6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MobSF descubre · JADX localiza · ADB extrae · la clave descifra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MobSF, JADX, sqlite3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M3 · M4 · M5 · M7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Endpoints, cripto, canal HTTP y calidad de código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Burp, mitm-m5.py, Frida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M8 · M9 · M10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Ingeniería inversa, manipulación de código y superficie extra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apktool, apksigner, d8, Frida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37947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600" b="0" i="0">
                <a:solidFill>
                  <a:srgbClr val="5B6B7B"/>
                </a:solidFill>
                <a:latin typeface="DejaVu Sans"/>
              </a:rPr>
              <a:t>La app es la misma en las tres: </a:t>
            </a:r>
            <a:r>
              <a:rPr sz="1600" b="1" i="0">
                <a:solidFill>
                  <a:srgbClr val="0F1B2D"/>
                </a:solidFill>
                <a:latin typeface="DejaVu Sans"/>
              </a:rPr>
              <a:t>InsecureBankv2</a:t>
            </a:r>
            <a:r>
              <a:rPr sz="1600" b="0" i="0">
                <a:solidFill>
                  <a:srgbClr val="5B6B7B"/>
                </a:solidFill>
                <a:latin typeface="DejaVu Sans"/>
              </a:rPr>
              <a:t> (Dinesh Shetty), referenciada por OWASP MASTG como </a:t>
            </a:r>
            <a:r>
              <a:rPr sz="1600" b="1" i="0">
                <a:solidFill>
                  <a:srgbClr val="0F1B2D"/>
                </a:solidFill>
                <a:latin typeface="DejaVu Sans"/>
              </a:rPr>
              <a:t>MASTG-APP-0010</a:t>
            </a:r>
            <a:r>
              <a:rPr sz="1600" b="0" i="0">
                <a:solidFill>
                  <a:srgbClr val="5B6B7B"/>
                </a:solidFill>
                <a:latin typeface="DejaVu Sans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600" b="0" i="0">
                <a:solidFill>
                  <a:srgbClr val="5B6B7B"/>
                </a:solidFill>
                <a:latin typeface="DejaVu Sans"/>
              </a:rPr>
              <a:t>La VM es la misma: </a:t>
            </a:r>
            <a:r>
              <a:rPr sz="1600" b="1" i="0">
                <a:solidFill>
                  <a:srgbClr val="0F1B2D"/>
                </a:solidFill>
                <a:latin typeface="DejaVu Sans"/>
              </a:rPr>
              <a:t>Android 8.1 (API 27) x86_64, con root</a:t>
            </a:r>
            <a:r>
              <a:rPr sz="1600" b="0" i="0">
                <a:solidFill>
                  <a:srgbClr val="5B6B7B"/>
                </a:solidFill>
                <a:latin typeface="DejaVu Sans"/>
              </a:rPr>
              <a:t>. Todo lo que veremos está </a:t>
            </a:r>
            <a:r>
              <a:rPr sz="1600" b="1" i="0">
                <a:solidFill>
                  <a:srgbClr val="14B8A6"/>
                </a:solidFill>
                <a:latin typeface="DejaVu Sans"/>
              </a:rPr>
              <a:t>verificado ejecutándolo de verdad</a:t>
            </a:r>
            <a:r>
              <a:rPr sz="1600" b="0" i="0">
                <a:solidFill>
                  <a:srgbClr val="5B6B7B"/>
                </a:solidFill>
                <a:latin typeface="DejaVu Sans"/>
              </a:rPr>
              <a:t>, no copiado de un guion.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600" b="0" i="0">
                <a:solidFill>
                  <a:srgbClr val="5B6B7B"/>
                </a:solidFill>
                <a:latin typeface="DejaVu Sans"/>
              </a:rPr>
              <a:t>Herramientas: </a:t>
            </a:r>
            <a:r>
              <a:rPr sz="1600" b="1" i="0">
                <a:solidFill>
                  <a:srgbClr val="0F1B2D"/>
                </a:solidFill>
                <a:latin typeface="DejaVu Sans"/>
              </a:rPr>
              <a:t>MobSF, JADX, apktool, apksigner, d8, Frida, Burp</a:t>
            </a:r>
            <a:r>
              <a:rPr sz="1600" b="0" i="0">
                <a:solidFill>
                  <a:srgbClr val="5B6B7B"/>
                </a:solidFill>
                <a:latin typeface="DejaVu Sans"/>
              </a:rPr>
              <a:t>. Todas headless, por SSH.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DejaVu Sans"/>
              </a:rPr>
              <a:t>REPASO · CLASE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M1 · M2 · M6 — Plataforma, datos y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544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4572000"/>
                <a:gridCol w="3291840"/>
              </a:tblGrid>
              <a:tr h="9144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Riesgo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Qué encontramos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Evidencia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M1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Improper Platform Usage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Clave AES e IV de ceros embebidos en el código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key = "This is the super secret key 123"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M2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Insecure Data Storage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Contraseña «cifrada» con esa clave en SharedPreferences; usuarios en claro en SQLite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superSecurePassword = DTrW2VXjSoFdg0e61fHxJg==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M6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Insecure Logging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Usuario y contraseña completos en logcat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Log.d("Successful Login:", "account=" + user + ":" + pass)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394960"/>
            <a:ext cx="10515600" cy="77724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DejaVu Sans"/>
              </a:rPr>
              <a:t>M1 define la clave  →  con ella se descifra M2  →  y M6 la deja escrita en el log.  Tres riesgos, una sola cadena.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DejaVu Sans"/>
              </a:rPr>
              <a:t>REPASO · CLASE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M3 · M4 · M5 · M7 — Autenticación, cripto y canal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651760"/>
                <a:gridCol w="7406640"/>
              </a:tblGrid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Riesgo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Qué encontramos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B2D"/>
                          </a:solidFill>
                          <a:latin typeface="DejaVu Sans"/>
                        </a:rPr>
                        <a:t>M3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Insecure Authentication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/devlogin no valida nada · /changepassword no pide la actual · sin rate limit · enumeración de usuarios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B2D"/>
                          </a:solidFill>
                          <a:latin typeface="DejaVu Sans"/>
                        </a:rPr>
                        <a:t>M4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Insufficient Cryptography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Clave hardcodeada · IV de 16 ceros · AES-CBC sin MAC · APK firmada solo con v1 (Janus)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B2D"/>
                          </a:solidFill>
                          <a:latin typeface="DejaVu Sans"/>
                        </a:rPr>
                        <a:t>M5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Insecure Communication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HTTP plano (protocol = "http://") · credenciales en claro · respuesta alterable en vuelo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B2D"/>
                          </a:solidFill>
                          <a:latin typeface="DejaVu Sans"/>
                        </a:rPr>
                        <a:t>M7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Client Code Quality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B2D"/>
                          </a:solidFill>
                          <a:latin typeface="DejaVu Sans"/>
                        </a:rPr>
                        <a:t>debuggable + allowBackup · 8 permisos peligrosos · minSdk 15 / targetSdk 22 · sin validar entradas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806440"/>
            <a:ext cx="10515600" cy="7315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DejaVu Sans"/>
              </a:rPr>
              <a:t>M3 y M5 son el mismo ataque desde dos lados: el cliente decide el acceso a partir de una cadena que llega por un canal que nadie verifica.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5484D"/>
                </a:solidFill>
                <a:latin typeface="DejaVu Sans"/>
              </a:rPr>
              <a:t>REPASO · CLASE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M8 · M9 · M10 — Inversa, manipulación y superficie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77440"/>
                <a:gridCol w="7406640"/>
              </a:tblGrid>
              <a:tr h="10287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Riesgo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Qué encontramos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M9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Reverse Engineering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JADX devuelve clave, IV y modo · Frida captura la contraseña en claro en memoria · debuggable lo facilita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M8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Code Tampering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Parchear smali (nop), reconstruir y re-firmar con CN=Attacker · renombrar la app · v1 no protege la metadata (Janus)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M10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Extraneous Functionality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/devlogin · 4 actividades exportadas · receptor que exfiltra la contraseña por SMS · provider sin permisos · Google Wallet en un banco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806440"/>
            <a:ext cx="10515600" cy="731520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DejaVu Sans"/>
              </a:rPr>
              <a:t>M9 hace posible M8. M8 hace inútil evitar M10. Ninguno de los tres necesita una vulnerabilidad de la plataforma: basta con que la app no se defienda.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2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D8CF0"/>
                </a:solidFill>
                <a:latin typeface="DejaVu Sans"/>
              </a:rPr>
              <a:t>REPASO · SÍNTESIS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La lección: no son etiquetas, son cadenas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2004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3200400" cy="5486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Cadena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834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M1  clave embebida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M2  datos «cifrados» con esa clave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M6  credenciales en el log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M3  el atacante ya tiene credenciales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600200"/>
            <a:ext cx="32004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1600200"/>
            <a:ext cx="3200400" cy="548640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6002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Cadena de ataque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77440"/>
            <a:ext cx="2834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M9  ingeniería inversa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M8  modificar y re-firmar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M10  usar la superficie extra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cuentas ajenas, sin avisar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600200"/>
            <a:ext cx="32004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1600200"/>
            <a:ext cx="320040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6002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Cadena cripto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377440"/>
            <a:ext cx="2834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M4  clave + IV + CBC sin MAC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rompe lo guardado (M2)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rompe lo transmitido (M5)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0F1B2D"/>
                </a:solidFill>
                <a:latin typeface="DejaVu Sans"/>
              </a:rPr>
              <a:t>• firma v1 → Janus → M8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B2D"/>
                </a:solidFill>
                <a:latin typeface="DejaVu Sans"/>
              </a:rPr>
              <a:t>Ningún control aislado arregla esto. </a:t>
            </a:r>
            <a:r>
              <a:rPr sz="1600" b="0" i="0">
                <a:solidFill>
                  <a:srgbClr val="5B6B7B"/>
                </a:solidFill>
                <a:latin typeface="DejaVu Sans"/>
              </a:rPr>
              <a:t>La seguridad móvil es el conjunto: datos, cripto, canal y código — del lado del servidor y del lado del cliente.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2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D8CF0"/>
                </a:solidFill>
                <a:latin typeface="DejaVu Sans"/>
              </a:rPr>
              <a:t>PUENTE A LA CLASE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Sabemos romperlo. ¿Y defenderlo?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2000" b="0" i="0">
                <a:solidFill>
                  <a:srgbClr val="0F1B2D"/>
                </a:solidFill>
                <a:latin typeface="DejaVu Sans"/>
              </a:rPr>
              <a:t>Todo lo anterior vive en el </a:t>
            </a:r>
            <a:r>
              <a:rPr sz="2000" b="1" i="0">
                <a:solidFill>
                  <a:srgbClr val="E5484D"/>
                </a:solidFill>
                <a:latin typeface="DejaVu Sans"/>
              </a:rPr>
              <a:t>lado del cliente</a:t>
            </a:r>
            <a:r>
              <a:rPr sz="2000" b="0" i="0">
                <a:solidFill>
                  <a:srgbClr val="0F1B2D"/>
                </a:solidFill>
                <a:latin typeface="DejaVu Sans"/>
              </a:rPr>
              <a:t>: la APK que el usuario tiene en la mano.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800" b="0" i="0">
                <a:solidFill>
                  <a:srgbClr val="5B6B7B"/>
                </a:solidFill>
                <a:latin typeface="DejaVu Sans"/>
              </a:rPr>
              <a:t>Si el atacante controla el dispositivo —y en móvil, siempre lo hace— puede leer, modificar y volver a empaquetar tu app.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800" b="0" i="0">
                <a:solidFill>
                  <a:srgbClr val="5B6B7B"/>
                </a:solidFill>
                <a:latin typeface="DejaVu Sans"/>
              </a:rPr>
              <a:t>La pregunta de la Clase 4 no es «cómo evitar que la rompan», porque no se puede. Es </a:t>
            </a:r>
            <a:r>
              <a:rPr sz="1800" b="1" i="0">
                <a:solidFill>
                  <a:srgbClr val="0F1B2D"/>
                </a:solidFill>
                <a:latin typeface="DejaVu Sans"/>
              </a:rPr>
              <a:t>cómo subir el coste, detectar la manipulación y no depender del cliente para la seguridad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10515600" cy="137160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892040"/>
            <a:ext cx="109728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FFFFFF"/>
                </a:solidFill>
                <a:latin typeface="DejaVu Sans"/>
              </a:rPr>
              <a:t>«Resilience controls are never absolute... Any client-side protection can be bypassed, so these must be treated as additional protection against threat-specific attacks.»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DejaVu Sans"/>
              </a:rPr>
              <a:t>— OWASP MASVS-RESILIENCE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5CF6"/>
                </a:solidFill>
                <a:latin typeface="DejaVu Sans"/>
              </a:rPr>
              <a:t>CLASE 4 · FUNDAMENTO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MASVS-RESILIENCE: los cuatro controles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54480"/>
          <a:ext cx="1051559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409"/>
                <a:gridCol w="2541270"/>
                <a:gridCol w="5608320"/>
                <a:gridCol w="1752600"/>
              </a:tblGrid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Control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Qué exige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En una palabra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R-1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Integridad de la plataforma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Detectar root/jailbreak, emuladores, entornos virtuales y atestiguar el dispositivo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¿dónde corre?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R-2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Anti-tampering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Comprobar la integridad de la firma, el código (DEX/nativo) y los recursos; detectar repackaging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¿es mi app?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R-3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Anti-ingeniería inversa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Ofuscar código y recursos; dificultar la lectura estática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¿se entiende?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R-4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Anti-análisis dinámico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Anti-debug y detección de herramientas de instrumentación (Frida, hooking)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¿la están observando?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B6B7B"/>
                </a:solidFill>
                <a:latin typeface="DejaVu Sans"/>
              </a:rPr>
              <a:t>Son los cuatro grupos del estándar OWASP MASVS. InsecureBankv2 no cumple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5484D"/>
                </a:solidFill>
                <a:latin typeface="DejaVu Sans"/>
              </a:rPr>
              <a:t>ninguno de los cuatro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DejaVu Sans"/>
              </a:rPr>
              <a:t>CLASE 4 · R-1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Integridad de la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8521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Detección de root / jailbreak: binarios su, Magisk, build tags test-keys, /system escribible.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Detección de emulador: huella del build, ausencia/rareza de sensores, propiedades QEMU.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Detección de virtualización: entornos como VirtualApp / contenedores.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Device attestation: Play Integrity API o Key Attestation, verificada en el servidor.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Referencias MASTG reales:</a:t>
            </a:r>
          </a:p>
          <a:p>
            <a:pPr algn="l" lvl="1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–   MASTG-KNOW-0027 (root), -0031 (emulador), -0052 (virtual), -0054 (attestation), -0035 (Play Integrity).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554480"/>
            <a:ext cx="4389120" cy="3931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4B8A6"/>
                </a:solidFill>
                <a:latin typeface="DejaVu Sans"/>
              </a:rPr>
              <a:t>el patrón (conceptual)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1993392"/>
            <a:ext cx="398678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// raíz del asunto: comprobar en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// RUNTIME si el entorno es de fiar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/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val tags = Build.TAGS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if (tags != null &amp;&amp;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 tags.contains("test-keys")) {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 // build de desarrollo / ROM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}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/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// y lo importante: NO decidir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// en el cliente. Lo detectado se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// firma y se manda AL SERVIDOR.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2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D8CF0"/>
                </a:solidFill>
                <a:latin typeface="DejaVu Sans"/>
              </a:rPr>
              <a:t>CLASE 4 · R-2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Anti-tampering: ¿es mi app la que corre?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8521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Integridad de la firma: leer el certificado en runtime y compararlo con el hash esperado.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Integridad del código: verificar el DEX y las librerías nativas (hashes) antes de confiar.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Integridad de recursos: que nadie sustituya strings, imágenes o configuración.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Detección de repackaging: la app re-firmada por un atacante deja de validar.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Error clásico:</a:t>
            </a:r>
          </a:p>
          <a:p>
            <a:pPr algn="l" lvl="1">
              <a:lnSpc>
                <a:spcPct val="102000"/>
              </a:lnSpc>
              <a:spcAft>
                <a:spcPts val="9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–   comprobar la firma en Java es un control que Frida parchea en 30 segundos. El contraste real va en nativo y, sobre todo, en el servidor.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554480"/>
            <a:ext cx="4389120" cy="3931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4B8A6"/>
                </a:solidFill>
                <a:latin typeface="DejaVu Sans"/>
              </a:rPr>
              <a:t>comprobación de firma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1993392"/>
            <a:ext cx="398678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// firma esperada (server-side ideal)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val pkg = packageManager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.getPackageInfo(packageName,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    PackageManager.GET_SIGNATURES)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val sig = pkg.signatures[0]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val hash = sha256(sig.toByteArray())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/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if (hash != EXPECTED) {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 // app manipulada O re-firmada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 // (InsecureBankv2 no tiene esto: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 //  en Clase 3 la re-firmamos y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    //  arranca sin quejarse)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DejaVu Sans"/>
              </a:rPr>
              <a:t>CLASE 4 · R-3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Anti-ingeniería inversa: que cueste leerlo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Ofuscación de código (R8 / ProGuard): renombra clases y métodos y elimina lo no usado.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Ofuscación de cadenas: la clave de InsecureBankv2 viaja en texto claro; ofuscarla esconde el literal pero no la lógica.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Flujo de control y aritmética: encarece el análisis estático (DexGuard, Virbox, Promon…).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Parte lógica en nativo (NDK + JNI): añade una capa de dificultad sobre Java/smali.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Límite honesto: la ofuscación retrasa, no impide. Un analista con tiempo (o un LLM) la deshace.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5484D"/>
                </a:solidFill>
                <a:latin typeface="DejaVu Sans"/>
              </a:rPr>
              <a:t>CLASE 4 · R-4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Anti-análisis dinámico: Frida y el depurador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943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Anti-debug: Debug.isDebuggerConnected(), ptrace(PTRACE_TRACEME), TracerPid en /proc/self/status.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Detección de Frida: puerto por defecto 27042, hilos gum-js-loop / gmain, regiones frida-agent en /proc/self/maps.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Detección de hooking: comprobar la integridad de métodos, ART, o el retorno de llamadas nativas.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En InsecureBankv2:</a:t>
            </a:r>
          </a:p>
          <a:p>
            <a:pPr algn="l" lvl="1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–   nada de esto. En la Clase 3 hookeamos aesEncryptedString con Frida y la app ni se enteró.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554480"/>
            <a:ext cx="4297680" cy="3931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68249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4B8A6"/>
                </a:solidFill>
                <a:latin typeface="DejaVu Sans"/>
              </a:rPr>
              <a:t>qué miraría un anti-Frida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1993392"/>
            <a:ext cx="389534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# huecos que InsecureBankv2 deja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# abiertos (lo que un control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# real vigilaría)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/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cat /proc/self/maps | grep -i frida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cat /proc/net/tcp  # 27042?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ls /proc/self/task    # gum-js-loop?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/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# la app no mira nada de esto: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# por eso el hook de M9 funcionó</a:t>
            </a: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300">
                <a:solidFill>
                  <a:srgbClr val="D6E2F0"/>
                </a:solidFill>
                <a:latin typeface="DejaVu Sans Mono"/>
              </a:rPr>
              <a:t># a la primera.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5CF6"/>
                </a:solidFill>
                <a:latin typeface="DejaVu Sans"/>
              </a:rPr>
              <a:t>CLASE 4 · TÉCNICA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Attestation: no depender del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515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El cliente puede mentir sobre su propio estado. Un tercero con claves en hardware, no.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Play Integrity API: el dispositivo firma un veredicto (integridad de app, del dispositivo y de la licencia) que el servidor verifica.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Key Attestation (Android KeyStore): claves respaldadas por hardware con certificados verificables.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La clave está en dónde se decide:</a:t>
            </a:r>
          </a:p>
          <a:p>
            <a:pPr algn="l" lvl="1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–   la verificación se hace en el SERVIDOR. Si el cliente es el que decide si el cliente es de fiar, ya has perdido.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Referencias: MASVS-RESILIENCE-1 · MASTG-KNOW-0035 (Play Integrity) · -0119/-0120 (Key / Device Attestation).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DejaVu Sans"/>
              </a:rPr>
              <a:t>DEMO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InsecureBankv2 no tiene NINGUNA defensa (y se 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54480"/>
          <a:ext cx="105155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39"/>
                <a:gridCol w="3291840"/>
              </a:tblGrid>
              <a:tr h="7132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Qué probamos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Qué esperamos ver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50">
                          <a:solidFill>
                            <a:srgbClr val="FFFFFF"/>
                          </a:solidFill>
                          <a:latin typeface="DejaVu Sans"/>
                        </a:rPr>
                        <a:t>Por qué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Re-firmar la app (Clase 3)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Arranca igual, firmada por CN=Attacker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No hay comprobación de firma (R-2)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Detección de root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«Rooted Device!!» es solo un texto: no bloquea nada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No hay control real de plataforma (R-1)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Hook con Frida (Clase 3)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Captura la contraseña; la app no reacciona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No hay anti-análisis dinámico (R-4)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F1B2D"/>
                          </a:solidFill>
                          <a:latin typeface="DejaVu Sans"/>
                        </a:rPr>
                        <a:t>mapas / puertos de Frida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Nadie los mira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0F1B2D"/>
                          </a:solidFill>
                          <a:latin typeface="DejaVu Sans"/>
                        </a:rPr>
                        <a:t>No hay detección de instrumentación (R-4)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B2D"/>
                </a:solidFill>
                <a:latin typeface="DejaVu Sans"/>
              </a:rPr>
              <a:t>El contraste es el mensaje: </a:t>
            </a:r>
            <a:r>
              <a:rPr sz="1500" b="0" i="0">
                <a:solidFill>
                  <a:srgbClr val="5B6B7B"/>
                </a:solidFill>
                <a:latin typeface="DejaVu Sans"/>
              </a:rPr>
              <a:t>estos mismos cuatro puntos, en una app bancaria real, son exactamente donde R-1/R-2/R-4 tendrían que saltar.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5484D"/>
                </a:solidFill>
                <a:latin typeface="DejaVu Sans"/>
              </a:rPr>
              <a:t>CLASE 4 · 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La resiliencia NO es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Todo control del lado del cliente se puede saltar: en el momento en que el atacante controla el dispositivo, también controla tus comprobaciones.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MASVS lo deja escrito: la AUSENCIA de controles de resiliencia no es, por sí sola, una vulnerabilidad. Son defensa en profundidad.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No sustituyen la seguridad del diseño: validación en el servidor, criptografía bien hecha y mínima superficie. Esos sí son requisitos.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Coste real: rendimiento, falsos positivos (usuarios con root legítimo), y fricción para quien audita la app en tu nombre.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•   Úsalos para:</a:t>
            </a:r>
          </a:p>
          <a:p>
            <a:pPr algn="l" lvl="1">
              <a:lnSpc>
                <a:spcPct val="102000"/>
              </a:lnSpc>
              <a:spcAft>
                <a:spcPts val="1000"/>
              </a:spcAft>
            </a:pPr>
            <a:r>
              <a:rPr sz="1550" b="0" i="0">
                <a:solidFill>
                  <a:srgbClr val="0F1B2D"/>
                </a:solidFill>
                <a:latin typeface="DejaVu Sans"/>
              </a:rPr>
              <a:t>–   deter client-side abuse (fraude, trampas, clonado), no como la puerta que protege el dinero.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000"/>
          </a:xfrm>
          <a:prstGeom prst="rect">
            <a:avLst/>
          </a:prstGeom>
          <a:solidFill>
            <a:srgbClr val="2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D8CF0"/>
                </a:solidFill>
                <a:latin typeface="DejaVu Sans"/>
              </a:rPr>
              <a:t>CLASE 4 · 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DejaVu Sans"/>
              </a:rPr>
              <a:t>Cómo se evalúa (MASTG)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457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DejaVu Sans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544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97680"/>
                <a:gridCol w="4754880"/>
              </a:tblGrid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DejaVu Sans"/>
                        </a:rPr>
                        <a:t>Área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DejaVu Sans"/>
                        </a:rPr>
                        <a:t>Knowledge (MASTG-KNOW)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DejaVu Sans"/>
                        </a:rPr>
                        <a:t>Qué se prueba</a:t>
                      </a:r>
                    </a:p>
                  </a:txBody>
                  <a:tcPr marL="73152" marR="54864" marT="27432" marB="27432" anchor="ctr">
                    <a:solidFill>
                      <a:srgbClr val="0F1B2D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B2D"/>
                          </a:solidFill>
                          <a:latin typeface="DejaVu Sans"/>
                        </a:rPr>
                        <a:t>Root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0027 Root Detection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¿Se detecta el root y se actúa?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B2D"/>
                          </a:solidFill>
                          <a:latin typeface="DejaVu Sans"/>
                        </a:rPr>
                        <a:t>Anti-debug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0028 Anti-Debugging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¿Se detecta el depurador?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B2D"/>
                          </a:solidFill>
                          <a:latin typeface="DejaVu Sans"/>
                        </a:rPr>
                        <a:t>Integridad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0029 File Integrity · 0032 Runtime Integrity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¿Se verifica código y recursos?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B2D"/>
                          </a:solidFill>
                          <a:latin typeface="DejaVu Sans"/>
                        </a:rPr>
                        <a:t>Herramientas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0030 RE Tool Detection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¿Se detecta Frida / instrumentación?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B2D"/>
                          </a:solidFill>
                          <a:latin typeface="DejaVu Sans"/>
                        </a:rPr>
                        <a:t>Emulador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0031 Emulator Detection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¿Se detecta la máquina virtual?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B2D"/>
                          </a:solidFill>
                          <a:latin typeface="DejaVu Sans"/>
                        </a:rPr>
                        <a:t>Ofuscación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0033 Obfuscation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¿Cuánto cuesta leer el binario?</a:t>
                      </a:r>
                    </a:p>
                  </a:txBody>
                  <a:tcPr marL="73152" marR="54864" marT="27432" marB="27432" anchor="ctr">
                    <a:solidFill>
                      <a:srgbClr val="ECF1F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B2D"/>
                          </a:solidFill>
                          <a:latin typeface="DejaVu Sans"/>
                        </a:rPr>
                        <a:t>Attestation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0035 Play Integrity API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B2D"/>
                          </a:solidFill>
                          <a:latin typeface="DejaVu Sans"/>
                        </a:rPr>
                        <a:t>¿Se verifica en el servidor?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6B7B"/>
                </a:solidFill>
                <a:latin typeface="DejaVu Sans"/>
              </a:rPr>
              <a:t>El mismo marco con el que evaluamos las Clases 1–3, ahora del lado de la defensa.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4B8A6"/>
                </a:solidFill>
                <a:latin typeface="DejaVu Sans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2000" b="1" i="0">
                <a:solidFill>
                  <a:srgbClr val="94A3B8"/>
                </a:solidFill>
                <a:latin typeface="DejaVu Sans"/>
              </a:rPr>
              <a:t>Clase 1–3: </a:t>
            </a:r>
            <a:r>
              <a:rPr sz="2000" b="0" i="0">
                <a:solidFill>
                  <a:srgbClr val="FFFFFF"/>
                </a:solidFill>
                <a:latin typeface="DejaVu Sans"/>
              </a:rPr>
              <a:t>sabemos romper una app móvil.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2000" b="1" i="0">
                <a:solidFill>
                  <a:srgbClr val="14B8A6"/>
                </a:solidFill>
                <a:latin typeface="DejaVu Sans"/>
              </a:rPr>
              <a:t>Clase 4: </a:t>
            </a:r>
            <a:r>
              <a:rPr sz="2000" b="0" i="0">
                <a:solidFill>
                  <a:srgbClr val="FFFFFF"/>
                </a:solidFill>
                <a:latin typeface="DejaVu Sans"/>
              </a:rPr>
              <a:t>sabemos leer cómo una app intenta defenderse.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2000" b="1" i="0">
                <a:solidFill>
                  <a:srgbClr val="F59E0B"/>
                </a:solidFill>
                <a:latin typeface="DejaVu Sans"/>
              </a:rPr>
              <a:t>La regla que no cambia: </a:t>
            </a:r>
            <a:r>
              <a:rPr sz="2000" b="0" i="0">
                <a:solidFill>
                  <a:srgbClr val="FFFFFF"/>
                </a:solidFill>
                <a:latin typeface="DejaVu Sans"/>
              </a:rPr>
              <a:t>nada que decida el cliente es de fiar.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480560"/>
            <a:ext cx="2926080" cy="30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DejaVu Sans"/>
              </a:rPr>
              <a:t>Siguiente paso: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DejaVu Sans"/>
              </a:rPr>
              <a:t>repaso final y examen · mapa de CVE de 2026 en docs/clases/cve-2026-mobile.md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1">
                <a:solidFill>
                  <a:srgbClr val="14B8A6"/>
                </a:solidFill>
                <a:latin typeface="DejaVu Sans"/>
              </a:rPr>
              <a:t>«No digas: evité que la modificaran. Di: encarecí la modificación y me enteré cuando lo hicieron.»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